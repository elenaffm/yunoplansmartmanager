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0d280348b847bf" /><Relationship Type="http://schemas.openxmlformats.org/officeDocument/2006/relationships/extended-properties" Target="/docProps/app.xml" Id="Rf700625c05b3485e" /><Relationship Type="http://schemas.openxmlformats.org/officeDocument/2006/relationships/officeDocument" Target="/ppt/presentation.xml" Id="R1c114a3c941e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a4aefcbc034d7b"/>
  </p:sldMasterIdLst>
  <p:notesMasterIdLst>
    <p:notesMasterId xmlns:r="http://schemas.openxmlformats.org/officeDocument/2006/relationships" r:id="R96d2c8a994fe4838"/>
  </p:notesMasterIdLst>
  <p:sldIdLst>
    <p:sldId xmlns:r="http://schemas.openxmlformats.org/officeDocument/2006/relationships" id="256" r:id="R6d1a3b8c15364207"/>
    <p:sldId xmlns:r="http://schemas.openxmlformats.org/officeDocument/2006/relationships" id="257" r:id="Rd27f1da3490f4706"/>
    <p:sldId xmlns:r="http://schemas.openxmlformats.org/officeDocument/2006/relationships" id="258" r:id="Rc40b4b48306644cd"/>
    <p:sldId xmlns:r="http://schemas.openxmlformats.org/officeDocument/2006/relationships" id="259" r:id="Rc2c2e9af45ed463b"/>
    <p:sldId xmlns:r="http://schemas.openxmlformats.org/officeDocument/2006/relationships" id="260" r:id="Rbc6ddb5a0345481f"/>
    <p:sldId xmlns:r="http://schemas.openxmlformats.org/officeDocument/2006/relationships" id="261" r:id="Rcb80d995151e490b"/>
    <p:sldId xmlns:r="http://schemas.openxmlformats.org/officeDocument/2006/relationships" id="262" r:id="Rc5f98ecb3dd046d3"/>
    <p:sldId xmlns:r="http://schemas.openxmlformats.org/officeDocument/2006/relationships" id="263" r:id="Raa8dd6399d154d5f"/>
    <p:sldId xmlns:r="http://schemas.openxmlformats.org/officeDocument/2006/relationships" id="264" r:id="R8ebe5a3600a2461f"/>
    <p:sldId xmlns:r="http://schemas.openxmlformats.org/officeDocument/2006/relationships" id="265" r:id="R111ccd002fbc44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36cba22644027" /><Relationship Type="http://schemas.openxmlformats.org/officeDocument/2006/relationships/slideMaster" Target="/ppt/slideMasters/slideMaster1.xml" Id="R4ca4aefcbc034d7b" /><Relationship Type="http://schemas.openxmlformats.org/officeDocument/2006/relationships/notesMaster" Target="/ppt/notesMasters/notesMaster1.xml" Id="R96d2c8a994fe4838" /><Relationship Type="http://schemas.openxmlformats.org/officeDocument/2006/relationships/presProps" Target="/ppt/presProps.xml" Id="Rdae8d8de97e14f11" /><Relationship Type="http://schemas.openxmlformats.org/officeDocument/2006/relationships/tableStyles" Target="/ppt/tableStyles.xml" Id="Ref126f91ef614383" /><Relationship Type="http://schemas.openxmlformats.org/officeDocument/2006/relationships/slide" Target="/ppt/slides/slide1.xml" Id="R6d1a3b8c15364207" /><Relationship Type="http://schemas.openxmlformats.org/officeDocument/2006/relationships/slide" Target="/ppt/slides/slide2.xml" Id="Rd27f1da3490f4706" /><Relationship Type="http://schemas.openxmlformats.org/officeDocument/2006/relationships/slide" Target="/ppt/slides/slide3.xml" Id="Rc40b4b48306644cd" /><Relationship Type="http://schemas.openxmlformats.org/officeDocument/2006/relationships/slide" Target="/ppt/slides/slide4.xml" Id="Rc2c2e9af45ed463b" /><Relationship Type="http://schemas.openxmlformats.org/officeDocument/2006/relationships/slide" Target="/ppt/slides/slide5.xml" Id="Rbc6ddb5a0345481f" /><Relationship Type="http://schemas.openxmlformats.org/officeDocument/2006/relationships/slide" Target="/ppt/slides/slide6.xml" Id="Rcb80d995151e490b" /><Relationship Type="http://schemas.openxmlformats.org/officeDocument/2006/relationships/slide" Target="/ppt/slides/slide7.xml" Id="Rc5f98ecb3dd046d3" /><Relationship Type="http://schemas.openxmlformats.org/officeDocument/2006/relationships/slide" Target="/ppt/slides/slide8.xml" Id="Raa8dd6399d154d5f" /><Relationship Type="http://schemas.openxmlformats.org/officeDocument/2006/relationships/slide" Target="/ppt/slides/slide9.xml" Id="R8ebe5a3600a2461f" /><Relationship Type="http://schemas.openxmlformats.org/officeDocument/2006/relationships/slide" Target="/ppt/slides/slide10.xml" Id="R111ccd002fbc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09ede5170849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c8962f604743a9" /><Relationship Type="http://schemas.openxmlformats.org/officeDocument/2006/relationships/notesMaster" Target="/ppt/notesMasters/notesMaster1.xml" Id="R4ff49176b98241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d27b649d854495" /><Relationship Type="http://schemas.openxmlformats.org/officeDocument/2006/relationships/notesMaster" Target="/ppt/notesMasters/notesMaster1.xml" Id="Rba116e6456ec40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d48e4e62d84f90" /><Relationship Type="http://schemas.openxmlformats.org/officeDocument/2006/relationships/notesMaster" Target="/ppt/notesMasters/notesMaster1.xml" Id="R5a910dcb0e1d41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7466720a93404d" /><Relationship Type="http://schemas.openxmlformats.org/officeDocument/2006/relationships/notesMaster" Target="/ppt/notesMasters/notesMaster1.xml" Id="R291f906707c74c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c1f5c683194baf" /><Relationship Type="http://schemas.openxmlformats.org/officeDocument/2006/relationships/notesMaster" Target="/ppt/notesMasters/notesMaster1.xml" Id="R956745b39be742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8bf6cf8beb4150" /><Relationship Type="http://schemas.openxmlformats.org/officeDocument/2006/relationships/notesMaster" Target="/ppt/notesMasters/notesMaster1.xml" Id="R3106f0930720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ff83d41cec445d" /><Relationship Type="http://schemas.openxmlformats.org/officeDocument/2006/relationships/notesMaster" Target="/ppt/notesMasters/notesMaster1.xml" Id="Rc4ff6801e8c343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78264a6e60430f" /><Relationship Type="http://schemas.openxmlformats.org/officeDocument/2006/relationships/notesMaster" Target="/ppt/notesMasters/notesMaster1.xml" Id="Rb7cd1abb1ba844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679c21a7234ab6" /><Relationship Type="http://schemas.openxmlformats.org/officeDocument/2006/relationships/notesMaster" Target="/ppt/notesMasters/notesMaster1.xml" Id="R63d5534770cc4c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f0a8ef5c9246f4" /><Relationship Type="http://schemas.openxmlformats.org/officeDocument/2006/relationships/notesMaster" Target="/ppt/notesMasters/notesMaster1.xml" Id="Rfebeb7020d9f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docs/planning/01_PRODUCT_SCOPE.md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docs/planning/01_PRODUCT_SCOPE.md</a:t>
            </a:r>
          </a:p>
          <a:p xmlns:a="http://schemas.openxmlformats.org/drawingml/2006/main">
            <a:r>
              <a:t>- docs/planning/03_USE_CASE_CATALOG.md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docs/planning/01_PRODUCT_SCOPE.md</a:t>
            </a:r>
          </a:p>
          <a:p xmlns:a="http://schemas.openxmlformats.org/drawingml/2006/main">
            <a:r>
              <a:t>- docs/planning/04_UX_AND_WORKFLOWS.md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docs/planning/04_UX_AND_WORKFLOWS.md</a:t>
            </a:r>
          </a:p>
          <a:p xmlns:a="http://schemas.openxmlformats.org/drawingml/2006/main">
            <a:r>
              <a:t>- docs/planning/07_YUNO_EXECUTION.md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docs/planning/02_DOMAIN_MODEL_AND_RULES.md</a:t>
            </a:r>
          </a:p>
          <a:p xmlns:a="http://schemas.openxmlformats.org/drawingml/2006/main">
            <a:r>
              <a:t>- docs/planning/14_VALIDATION_CATALOG.md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docs/planning/05_ARCHITECTURE.md</a:t>
            </a:r>
          </a:p>
          <a:p xmlns:a="http://schemas.openxmlformats.org/drawingml/2006/main">
            <a:r>
              <a:t>- docs/planning/06_DATA_MODEL.md</a:t>
            </a:r>
          </a:p>
          <a:p xmlns:a="http://schemas.openxmlformats.org/drawingml/2006/main">
            <a:r>
              <a:t>- docs/planning/07_YUNO_EXECUTION.md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docs/planning/09_SECURITY_AND_APPROVALS.md</a:t>
            </a:r>
          </a:p>
          <a:p xmlns:a="http://schemas.openxmlformats.org/drawingml/2006/main">
            <a:r>
              <a:t>- docs/planning/08_SDK_VALIDATION_LAB.md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docs/planning/01_PRODUCT_SCOPE.md</a:t>
            </a:r>
          </a:p>
          <a:p xmlns:a="http://schemas.openxmlformats.org/drawingml/2006/main">
            <a:r>
              <a:t>- docs/planning/11_AUDIT_AND_OBSERVABILITY.md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docs/planning/12_IMPLEMENTATION_ROADMAP.md</a:t>
            </a:r>
          </a:p>
          <a:p xmlns:a="http://schemas.openxmlformats.org/drawingml/2006/main">
            <a:r>
              <a:t>- docs/planning/13_OPEN_DECISIONS.md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docs/planning/01_PRODUCT_SCOPE.md</a:t>
            </a:r>
          </a:p>
          <a:p xmlns:a="http://schemas.openxmlformats.org/drawingml/2006/main">
            <a:r>
              <a:t>- docs/planning/12_IMPLEMENTATION_ROADMAP.md</a:t>
            </a:r>
          </a:p>
          <a:p xmlns:a="http://schemas.openxmlformats.org/drawingml/2006/main">
            <a:r>
              <a:t>- docs/planning/13_OPEN_DECISIONS.md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4ab7993dd49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4fe81213fb4e5d" /><Relationship Type="http://schemas.openxmlformats.org/officeDocument/2006/relationships/slideLayout" Target="/ppt/slideLayouts/slideLayout1.xml" Id="R122544eb01774a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544eb01774a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424f391ec474b" /><Relationship Type="http://schemas.openxmlformats.org/officeDocument/2006/relationships/notesSlide" Target="/ppt/notesSlides/notesSlide1.xml" Id="R1a020106cb94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cdaa032c74037" /><Relationship Type="http://schemas.openxmlformats.org/officeDocument/2006/relationships/notesSlide" Target="/ppt/notesSlides/notesSlide2.xml" Id="R79ebba6b7ce341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fc0b73ca04418" /><Relationship Type="http://schemas.openxmlformats.org/officeDocument/2006/relationships/notesSlide" Target="/ppt/notesSlides/notesSlide3.xml" Id="R41056cc1aad347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473bf8a5f439e" /><Relationship Type="http://schemas.openxmlformats.org/officeDocument/2006/relationships/notesSlide" Target="/ppt/notesSlides/notesSlide4.xml" Id="R86844fa7d03943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bbc0a3bf64329" /><Relationship Type="http://schemas.openxmlformats.org/officeDocument/2006/relationships/notesSlide" Target="/ppt/notesSlides/notesSlide5.xml" Id="R327a3a7348e547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916b9d61247ee" /><Relationship Type="http://schemas.openxmlformats.org/officeDocument/2006/relationships/notesSlide" Target="/ppt/notesSlides/notesSlide6.xml" Id="R5fa58f0f489a4f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296dbbdc14c04" /><Relationship Type="http://schemas.openxmlformats.org/officeDocument/2006/relationships/notesSlide" Target="/ppt/notesSlides/notesSlide7.xml" Id="R8874b42e740048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49e8257ed4f1f" /><Relationship Type="http://schemas.openxmlformats.org/officeDocument/2006/relationships/notesSlide" Target="/ppt/notesSlides/notesSlide8.xml" Id="Rd51b7dd97bf14d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072dd80584668" /><Relationship Type="http://schemas.openxmlformats.org/officeDocument/2006/relationships/notesSlide" Target="/ppt/notesSlides/notesSlide9.xml" Id="Ra441201a6abb41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83fe07dae4597" /><Relationship Type="http://schemas.openxmlformats.org/officeDocument/2006/relationships/notesSlide" Target="/ppt/notesSlides/notesSlide10.xml" Id="Rd850d3ce37e248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3DD5B-679B-4BDC-A7EC-B95C6D2B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YUNO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CC97E-E014-4006-9399-6E6D837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A3FA9-DD38-4080-ACC6-3E2E6C74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Plan Manager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B2CCC-36F0-45A8-8998-A4DE83C4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</a:defRPr>
            </a:pPr>
            <a:r>
              <a:rPr sz="2100" b="0">
                <a:solidFill>
                  <a:srgbClr val="4B5563"/>
                </a:solidFill>
              </a:rPr>
              <a:t>Planificación segura de campañas de cuotas para Argentina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C5264-C99E-48AC-B13D-BB635610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47850"/>
            <a:ext cx="2143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595C6-E36B-4D6E-84FC-DAE8CFA5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09800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Intención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comercial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E9C9C-0949-44D0-826B-5C37CAC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623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operaciones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verificables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F8051-9D73-4925-8D06-A67F1AAC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Presentación del proyecto · fase inicial de desarrollo</a:t>
            </a:r>
          </a:p>
        </p:txBody>
      </p:sp>
    </p:spTree>
    <p:extLst>
      <p:ext uri="{BB962C8B-B14F-4D97-AF65-F5344CB8AC3E}">
        <p14:creationId xmlns:p14="http://schemas.microsoft.com/office/powerpoint/2010/main" val="17234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21D34-4779-4EB4-BAC8-FCFC8C91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F7FA0-2E27-4386-9F84-08B05ED1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2F1D7-B171-4274-8BD7-F6134538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BD84A-EE49-4D78-AF30-185A0DFA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Una promoción comercial se traduce en múltiples cambios técnicos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33DAB-02DF-4672-9730-E21EE915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Yuno expone planes individuales; el equipo necesita gestionar campañas completas.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79710-3E7A-411D-90D3-98119DAE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La complejidad hoy vive en conocimiento operativo y herramientas manuales.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3825E-1584-46D9-B688-6A7D6258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278EB-D914-4F17-835D-E2E5636D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Prioridad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68698-C073-4BE1-A1AE-07F1A2F8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Respetar el orden de creación para que cada alcance prevalezca correctamente.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2CDF8-0E1F-4A7E-B793-FBE8C4C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099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011AB-0442-4B68-A74C-A621C07D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Tiempo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9A41D-C5E5-4BEF-8C2D-42B55D12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Cortar vigencias, crear retorno y detectar promociones futuras no listadas.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548C2-7B17-48C6-84B2-F552D41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48003-E0B0-4B0E-8CF0-99A72EA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48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Cobertura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81D9A-ADAE-49C5-9C2C-48450EA3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Mantener rangos continuos, BINs únicos y cuotas consistentes.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BC84E-B31D-4C93-A233-C2649E17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BBE93-168C-4A09-9F5E-16494B3C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62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Recuperación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1BEDB-CE84-4614-9FF3-4B904F22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625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Responder a fallos parciales sin asumir transacciones remotas.</a:t>
            </a:r>
          </a:p>
        </p:txBody>
      </p:sp>
    </p:spTree>
    <p:extLst>
      <p:ext uri="{BB962C8B-B14F-4D97-AF65-F5344CB8AC3E}">
        <p14:creationId xmlns:p14="http://schemas.microsoft.com/office/powerpoint/2010/main" val="19507072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CC8D7-5D9F-457C-841B-025F563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B1982-5A03-4820-B0CE-1798344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5794C-4F55-4F1C-888C-88F8AA59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1AA67-6D57-4682-9452-5BE369A3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Convertir una intención comercial en una operación segura y explicable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79CEF-59D3-4DC8-A9FD-5F1D5CBE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5A30D"/>
                </a:solidFill>
              </a:defRPr>
            </a:pPr>
            <a:r>
              <a:rPr sz="2100" b="1">
                <a:solidFill>
                  <a:srgbClr val="65A30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74713-A22B-475C-8509-14217CBD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PLANIFICAR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1CB01-87EA-4583-B3BA-E6FD1DB2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Configurar campañas, bancos, BINs, rangos, cuotas y vigencias sin redactar requests.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43B60-6955-4433-B1AB-EE15CC85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543175"/>
            <a:ext cx="95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71301-72D0-46D4-89D6-D68C6A31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5A30D"/>
                </a:solidFill>
              </a:defRPr>
            </a:pPr>
            <a:r>
              <a:rPr sz="2100" b="1">
                <a:solidFill>
                  <a:srgbClr val="65A30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38997-D1DC-4C05-AE46-C958A2C4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VERIFICAR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89C09-C3D8-493F-9988-78A5D7E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Proyectar antes, durante y después; validar reglas y ensayar cuotas visibles en sandbox.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0D8B1-6EED-4110-87CF-5180B190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43175"/>
            <a:ext cx="95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E59CE-9C00-4550-B883-6A9F7759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5A30D"/>
                </a:solidFill>
              </a:defRPr>
            </a:pPr>
            <a:r>
              <a:rPr sz="2100" b="1">
                <a:solidFill>
                  <a:srgbClr val="65A30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7B51E-7F5F-44DD-8D7B-B9D391E4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EJECUTAR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52E48-0D96-4BA5-AA47-AB315A76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Aprobar una versión exacta, operar secuencialmente y conservar auditoría completa.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6A47B-0961-4D5C-90FA-DD2C1CD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Para equipos comerciales, operadores de sandbox, operación y administración.</a:t>
            </a:r>
          </a:p>
        </p:txBody>
      </p:sp>
    </p:spTree>
    <p:extLst>
      <p:ext uri="{BB962C8B-B14F-4D97-AF65-F5344CB8AC3E}">
        <p14:creationId xmlns:p14="http://schemas.microsoft.com/office/powerpoint/2010/main" val="1209533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FE203-51B2-44DC-80C8-4273D95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FLUJO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9BCEA-B87F-486D-9BD4-9543989A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BF2D3-1E21-4F07-A40F-5AFC2F91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59300-DDE9-4580-B4CF-B5F42293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El asistente guía de la configuración a la aprobación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1D7BD-6EE1-41C3-B2D6-B0E712C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Cada paso deja visible el impacto y evita ejecutar cambios desde una edición aislada.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162FF-9647-4CDB-8C85-34B0A77D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967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DA58E-FDD4-43D8-8CDB-8B29B9AB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1A79A-6CA8-4BDF-95C7-2FB3B06D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57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2733C-D48D-468A-9A1A-5813894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Definir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8D865-E979-4825-B3C4-EE592E97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47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Alcance, banco, fechas y cuotas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5652B-3D11-4673-B340-3E26D9D5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09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13990-A63F-41A3-8B59-C00FE522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57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05BF0-CDBD-4157-8DB0-38817C69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Proyectar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BC46B-BC08-4309-A541-3690574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9600"/>
            <a:ext cx="147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Antes, durante y después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2D908-4E83-49BE-B70F-1326C50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43F3D-4E40-427C-813A-42418104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57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B41E1-8FCC-40B7-BDC8-AEE3F440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38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Validar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3003B-3B19-4D06-81C8-1CA2CC5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19600"/>
            <a:ext cx="147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Rangos, BINs, prioridades y conflictos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E9A64-8D03-4934-8240-E15F7864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09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F1FFF-1D95-4EBF-B972-AB8897A1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57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C18E6-0DBA-4451-ADF6-BC131AC0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Probar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AD1F9-09C5-497D-8E4D-2754C629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9600"/>
            <a:ext cx="147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Ensayo SDK en sandbox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0E289-78C5-432A-A771-74DA0AB4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30D"/>
          </a:solidFill>
          <a:ln xmlns:a="http://schemas.openxmlformats.org/drawingml/2006/main" w="0">
            <a:solidFill>
              <a:srgbClr val="65A30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2467C-823D-4A3B-BD8A-95ED9D68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57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1D73B-0805-49C9-AA11-B91266AC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38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Aprobar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9208E-47BB-4C45-B45B-94048659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19600"/>
            <a:ext cx="147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Hash, checklist y producción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C35586-7D3E-48E9-95DB-FCD02B9A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7FD4C4-E158-4AD2-88FD-7D8F6B4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El sistema muestra el plan técnico —create, update, delete y compensación— antes de cualquier escritura.</a:t>
            </a:r>
          </a:p>
        </p:txBody>
      </p:sp>
    </p:spTree>
    <p:extLst>
      <p:ext uri="{BB962C8B-B14F-4D97-AF65-F5344CB8AC3E}">
        <p14:creationId xmlns:p14="http://schemas.microsoft.com/office/powerpoint/2010/main" val="14308386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920B7C-9943-43C4-A607-DEF21688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MOTOR DE DOMINIO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FD5A4-7659-4621-B1F8-C4324BF1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1B854-5884-4CEF-9B32-3EA195A0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C1C04-DBA3-46F5-889D-296CCD31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Las reglas comerciales se vuelven una configuración efectiva por fecha, banco y monto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DA6A4-7BC5-4B2F-8568-107C1762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B5563"/>
                </a:solidFill>
              </a:defRPr>
            </a:pPr>
            <a:r>
              <a:rPr sz="1425" b="1">
                <a:solidFill>
                  <a:srgbClr val="4B5563"/>
                </a:solidFill>
              </a:rPr>
              <a:t>Prioridad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12082-1E02-4CEC-8C4F-188CFB92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8766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ADF89-66F7-411F-B95D-1618F8C0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45983-747B-462E-8F8E-214BD187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Restricción Amex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0D92D-ECE5-4A28-989D-19F3456B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6099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281EE-6018-41A2-A9F6-A6C4392B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63F90-A4DE-483B-845E-A3F124F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718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Días específicos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2C094-E03A-4A19-A648-1B4E801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343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8302A-05A0-45F5-B69A-4C9C50FC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31CAA-33FA-4D7D-965B-6CA9BEB3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Banco + BINs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F3F7A-DE20-43D9-BF19-8AACCC4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30765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58EF8-E692-4114-A6FA-4B9DAAB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063D6-446A-4A0B-9091-50AE49B4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48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General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A9B6B-B2D1-438E-A5D3-29DBA430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19375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6FDCC-52C1-4D79-BBDE-5CC65DFE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28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B5563"/>
                </a:solidFill>
              </a:defRPr>
            </a:pPr>
            <a:r>
              <a:rPr sz="1425" b="1">
                <a:solidFill>
                  <a:srgbClr val="4B5563"/>
                </a:solidFill>
              </a:rPr>
              <a:t>Proyección temporal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63EEA-5179-4128-BD1A-EC3BA929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1257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E2B77-F9CB-485E-91D2-7FFFF7E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9950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3CE30-DC6C-4126-BE13-25D8D9D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7190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37752-CCEB-4549-9F73-0A4D19AC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90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27114-AC0C-436A-89FE-A80132A8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38500"/>
            <a:ext cx="1257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CBEB3-D5FA-4EBA-9B4E-3D51CD41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09950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Durante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82FC9-04B3-4EA2-B233-F4E9FE9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7190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24 + 18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6C29D-B0BE-4ABE-98C7-226072AF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90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CDF54-7448-4632-9B51-FA3C3A12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1257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95F1A7-CDB5-4F9D-8B68-C26F5F63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Durante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C9EB67-FE7D-4EF2-9A46-FE7DCC91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7190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24 + 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7262F-EF2D-4C68-BB22-E33B27C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90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ED7D05-250E-4A4D-9BD6-168E83A6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38500"/>
            <a:ext cx="1257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49981E-D0A0-4B8C-8533-0C0A4E2E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409950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Después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5895E9-767A-4CB4-9917-DB6319C2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77190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restauración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B7D041-8BF3-4D2C-9A82-ECED8692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62500"/>
            <a:ext cx="538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El motor genera segmentos consecutivos, sin solapamiento efectivo y sin inventar cuotas intermedias.</a:t>
            </a:r>
          </a:p>
        </p:txBody>
      </p:sp>
    </p:spTree>
    <p:extLst>
      <p:ext uri="{BB962C8B-B14F-4D97-AF65-F5344CB8AC3E}">
        <p14:creationId xmlns:p14="http://schemas.microsoft.com/office/powerpoint/2010/main" val="4148194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D9F02-7126-469E-9E2D-F13EBD98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D47C0-1F3B-490B-91D6-50969A98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680C9-35D0-420E-AA37-60936A1B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C98C8-F07A-4C8B-AF01-900CFD42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La UI planifica; un worker durable ejecuta las operaciones remotas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22499-1B42-4E62-90DA-E540F5EE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La aplicación no intenta completar una campaña dentro del ciclo de un request HTTP.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8B3D9-5F7C-4079-9182-AFE8E1D4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956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99831-2BB6-4EFA-9556-42A0AA6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956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8F211-3E08-4B83-92C9-3CE68C1D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385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B5234-CDB2-499D-9807-75D71792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006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9E761-F598-49ED-BB9D-E3E4F58F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90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041A3-C38E-4443-A1AB-79D0D1BA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Next.js UI + BFF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BC619-C7B3-46EA-BD07-F0B909B7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AF9EF-A0C9-41B2-9EF0-7C8C0AB2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Servicios de aplicación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+ motor de dominio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4F203-A1CC-4502-80BB-C7A2459C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2266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5065F-0A17-480B-9001-3A69436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PostgreSQL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fuente de verdad +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7B7CB-8E39-4320-A4C4-66A2CF3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2266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366C7-89E3-4549-A695-37F435AB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Worker Node.js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secuencial + durable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3AD97-2F43-41CB-8DC6-CD0EE75A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5770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93631-3960-4663-8FD1-FF63CC50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291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Yuno REST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7A535-0BBA-47B1-ABDD-8F897D3C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Contrato REST server-side</a:t>
            </a:r>
          </a:p>
          <a:p xmlns:a="http://schemas.openxmlformats.org/drawingml/2006/main"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credenciales por ambiente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92C9E-CB71-4E3C-ACBB-BFF6649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El worker usa ExecutionRun y ExecutionOperation, lease, heartbeat, locks e idempotencia local.</a:t>
            </a:r>
          </a:p>
        </p:txBody>
      </p:sp>
    </p:spTree>
    <p:extLst>
      <p:ext uri="{BB962C8B-B14F-4D97-AF65-F5344CB8AC3E}">
        <p14:creationId xmlns:p14="http://schemas.microsoft.com/office/powerpoint/2010/main" val="20543140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ACCAF-9C9D-4C89-B567-0FAA50D8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0C27-A2B2-48DE-8A53-01C3191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C935B-7553-4C5E-828E-F7563C8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822DE-D0E1-415C-AADA-C9135E06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Producción sólo recibe una versión probada, aprobada y vigente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DF176-654E-4DC5-9E89-8064BB8F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Los controles se validan server-side y el worker vuelve a verificarlos al ejecutar.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F46AC-2033-48A4-A79C-8F2F7511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739B5-A99D-4FE9-A37D-319D8CF1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7 gates</a:t>
            </a:r>
          </a:p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antes de</a:t>
            </a:r>
          </a:p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producción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EB090-86CB-43A2-B33E-2DDF306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38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30D"/>
          </a:solidFill>
          <a:ln xmlns:a="http://schemas.openxmlformats.org/drawingml/2006/main" w="0">
            <a:solidFill>
              <a:srgbClr val="65A30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59691-28BA-462C-A361-4E826B2A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Versión inmutable y validada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22A17-C533-4F4A-BA00-89DA8687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30D"/>
          </a:solidFill>
          <a:ln xmlns:a="http://schemas.openxmlformats.org/drawingml/2006/main" w="0">
            <a:solidFill>
              <a:srgbClr val="65A3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8D9AB-7B8C-4BB8-BEEA-20471616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81325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Sandbox desde baseline conocido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3EFE7-51F9-4947-808C-FFE39FE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57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30D"/>
          </a:solidFill>
          <a:ln xmlns:a="http://schemas.openxmlformats.org/drawingml/2006/main" w="0">
            <a:solidFill>
              <a:srgbClr val="65A30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243EC-F08C-46B6-A061-9A2C2B1E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Pruebas antes / durante / después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56095-0970-4400-A3EE-A74227CF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30D"/>
          </a:solidFill>
          <a:ln xmlns:a="http://schemas.openxmlformats.org/drawingml/2006/main" w="0">
            <a:solidFill>
              <a:srgbClr val="65A30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3B855-0D69-4BE4-92C8-0C73FF2B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00475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Checklist comercial confirmado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805B8-0F71-48C9-B0BE-2C86998D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30D"/>
          </a:solidFill>
          <a:ln xmlns:a="http://schemas.openxmlformats.org/drawingml/2006/main" w="0">
            <a:solidFill>
              <a:srgbClr val="65A30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09867-3D42-4501-BADA-CA751AA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Aprobación para el planHash actual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F61B5-6E84-4FD8-A4C3-55746602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30D"/>
          </a:solidFill>
          <a:ln xmlns:a="http://schemas.openxmlformats.org/drawingml/2006/main" w="0">
            <a:solidFill>
              <a:srgbClr val="65A30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D053D-59A0-4E77-AD59-07D1FB6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19625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Sin drift bloqueante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8B8FB-20F2-418E-97CF-F4E480E0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95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30D"/>
          </a:solidFill>
          <a:ln xmlns:a="http://schemas.openxmlformats.org/drawingml/2006/main" w="0">
            <a:solidFill>
              <a:srgbClr val="65A30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A0A74-5961-4F77-9EC6-45E26ACA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292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Rol habilitado para producción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4ACA7-84BC-4FCF-A27A-8C66326A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00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Cambiar datos relevantes crea una nueva versión y revoca pruebas y aprobaciones previas.</a:t>
            </a:r>
          </a:p>
        </p:txBody>
      </p:sp>
    </p:spTree>
    <p:extLst>
      <p:ext uri="{BB962C8B-B14F-4D97-AF65-F5344CB8AC3E}">
        <p14:creationId xmlns:p14="http://schemas.microsoft.com/office/powerpoint/2010/main" val="874711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990E5-7B05-415C-A3B9-00C18F0F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90397-5CD2-49DE-A1F1-11F5AD8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EB666-21EA-4AB6-A694-07590614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75DB9-FFB4-4129-9C81-DF8C65C4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El proyecto convierte riesgo operativo en control visible y repetible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06FB2-6F1E-4E3A-8F22-A1D30721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869E4-E0F2-4B80-916C-9AB8E4A3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5563"/>
                </a:solidFill>
              </a:defRPr>
            </a:pPr>
            <a:r>
              <a:rPr sz="1575" b="1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C5BE7-5EF4-43A3-934E-71BEC179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Menos dependencia de conocimiento implícito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E0654-96E3-49F5-81A7-B620A082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Plantillas, proyección y plan de impacto reemplazan la operación basada en memoria y Postman.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4CA1A-05F2-4FA6-A55D-4E8ADE4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ABB04-0976-429D-8A51-6861966D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5563"/>
                </a:solidFill>
              </a:defRPr>
            </a:pPr>
            <a:r>
              <a:rPr sz="1575" b="1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AA498-3AA6-419D-B692-467F398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Más seguridad al cambiar producción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45024-6DCA-45B0-ADE0-65132E93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5770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Sandbox, validaciones, compensación y aprobación bloquean operaciones incompletas o inconsistentes.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2FC6F-C49B-4127-85A6-BE8B7B5E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206AD-99FF-48D6-8A91-92D837F1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5563"/>
                </a:solidFill>
              </a:defRPr>
            </a:pPr>
            <a:r>
              <a:rPr sz="1575" b="1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2438B-0017-4F1C-87A4-75045AF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Trazabilidad completa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7BCE5-90A4-4A1B-AF63-28AA47DC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Cada escritura, respuesta, decisión y resultado queda ligado a campaña, versión y ambiente.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083BC-64D4-420D-84D2-C49A4A7F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Éxito inicial: ninguna campaña sin validación; 100% de escrituras con trazabilidad; explicación por BIN, monto y fecha.</a:t>
            </a:r>
          </a:p>
        </p:txBody>
      </p:sp>
    </p:spTree>
    <p:extLst>
      <p:ext uri="{BB962C8B-B14F-4D97-AF65-F5344CB8AC3E}">
        <p14:creationId xmlns:p14="http://schemas.microsoft.com/office/powerpoint/2010/main" val="17703601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3DB34-2D00-4EF5-AAD8-530313A5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EJECUCIÓN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7EECC-4FF3-4EC1-A9FA-7A035E87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E07C8-6259-4F00-BCAE-1BA23C9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B397A-73E0-40D9-B0D1-55AEBB12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El roadmap reduce incertidumbre antes de habilitar producción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3912F-DFC4-439C-B262-5C2F3BB3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Las fases tienen criterios de salida: no se basan en fechas arbitrarias.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327E3-2E3D-4159-A54D-AB43C257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11DCA-6585-48B0-B547-94C3FD62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76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D638A-DA2B-4879-BE0B-77D21D11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100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0–3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F4DAA-A499-4F5C-A0CA-481B8CD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762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6A73F-CD1C-4FCB-AFE7-F8A3987C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Confirmar contrato y construir el motor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F21EF-0D5E-4C36-832B-79C85F1A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Contract tests Yuno · arquitectura · catálogo · dominio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7B151-9411-4437-BDCE-18B0318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76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5333B-0FF0-40EA-9D3C-DEFB93C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100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35C6F-36C2-4BD9-9762-36F53652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76500"/>
            <a:ext cx="2762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EED30-B7BC-4CFD-B0DB-607F63C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86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Planificar y validar en sandbox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5670F-4509-4281-A93F-02DD1700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813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UX · importación · worker durable · laboratorio SDK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1DA94-EBE7-497F-AC7C-984DCA11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876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34EED-44BD-4B06-93E1-B73420A7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0100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8–10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086CE-6321-4E61-8D69-8565B55E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76500"/>
            <a:ext cx="2762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EC7AB-39F6-4FC3-BEEC-499EC41D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Producir, endurecer y adoptar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20B9B-922A-430F-A00E-682548D9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Aprobaciones · casos avanzados · seguridad · rollout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68284-A5D5-40AC-93D1-04AEDBA6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Primer hito crítico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5F48F-8A4A-4124-92B7-A0455E63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482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Validar en sandbox el contrato real de Yuno: prioridades, fechas, futuros, deletes e idempotencia.</a:t>
            </a:r>
          </a:p>
        </p:txBody>
      </p:sp>
    </p:spTree>
    <p:extLst>
      <p:ext uri="{BB962C8B-B14F-4D97-AF65-F5344CB8AC3E}">
        <p14:creationId xmlns:p14="http://schemas.microsoft.com/office/powerpoint/2010/main" val="924831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B9135-604F-4837-90DC-69B63946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YUNO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E8589-574A-49D4-A954-C3EA652F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19103-93A0-47AA-A176-3BDE6D57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Una nueva forma de operar campañas de cuotas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3ADF9-AB3F-4844-A485-160B3ABC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928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</a:defRPr>
            </a:pPr>
            <a:r>
              <a:rPr sz="2100" b="0">
                <a:solidFill>
                  <a:srgbClr val="4B5563"/>
                </a:solidFill>
              </a:rPr>
              <a:t>Planificar con claridad. Validar en sandbox. Ejecutar con control. Auditar siempre.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983D3-A674-4434-945B-B455510A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80464-BD73-4645-BED5-FDB3B7F9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La propuesta no es sólo administrar planes: es estandarizar una operación crítica y hacerla verificable.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7A05F-6B8B-4684-9474-3616FC4D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Siguiente paso: cerrar los contratos de Yuno y las decisiones abiertas de la Fase 0.</a:t>
            </a:r>
          </a:p>
        </p:txBody>
      </p:sp>
    </p:spTree>
    <p:extLst>
      <p:ext uri="{BB962C8B-B14F-4D97-AF65-F5344CB8AC3E}">
        <p14:creationId xmlns:p14="http://schemas.microsoft.com/office/powerpoint/2010/main" val="55191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2026-08-05T20:34:37.6660000Z</dcterms:created>
  <dcterms:modified xsi:type="dcterms:W3CDTF">2026-08-05T20:34:37.6660000Z</dcterms:modified>
</coreProperties>
</file>